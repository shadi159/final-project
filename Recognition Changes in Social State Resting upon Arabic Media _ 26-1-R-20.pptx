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Dubai Light" panose="020B0303030403030204" pitchFamily="34" charset="-78"/>
      <p:regular r:id="rId18"/>
    </p:embeddedFont>
    <p:embeddedFont>
      <p:font typeface="Open Sauce" panose="020B0604020202020204" charset="0"/>
      <p:regular r:id="rId19"/>
    </p:embeddedFont>
    <p:embeddedFont>
      <p:font typeface="Open Sauce Bold" panose="020B0604020202020204" charset="0"/>
      <p:regular r:id="rId20"/>
    </p:embeddedFont>
    <p:embeddedFont>
      <p:font typeface="Sakkal Majalla" panose="02000000000000000000" pitchFamily="2" charset="-78"/>
      <p:regular r:id="rId21"/>
      <p:bold r:id="rId22"/>
    </p:embeddedFont>
    <p:embeddedFont>
      <p:font typeface="Tex Gyre Bon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9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5192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8067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1492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5269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6164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7032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9609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73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5548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1102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2733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6971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9476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800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5189" y="5460072"/>
            <a:ext cx="17217622" cy="0"/>
          </a:xfrm>
          <a:prstGeom prst="line">
            <a:avLst/>
          </a:prstGeom>
          <a:ln w="38100" cap="flat">
            <a:solidFill>
              <a:srgbClr val="00167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35189" y="998368"/>
            <a:ext cx="17217622" cy="2418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1"/>
              </a:lnSpc>
            </a:pPr>
            <a:r>
              <a:rPr lang="en-US" sz="9341" b="1" spc="-56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Recognition Changes in Social State Resting upon Arabic Media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5189" y="3601816"/>
            <a:ext cx="17217622" cy="1541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5941" spc="-356">
                <a:solidFill>
                  <a:srgbClr val="00167A"/>
                </a:solidFill>
                <a:latin typeface="Open Sauce"/>
                <a:ea typeface="Open Sauce"/>
                <a:cs typeface="Open Sauce"/>
                <a:sym typeface="Open Sauce"/>
              </a:rPr>
              <a:t>A Quantitative Pipeline for Monitoring Discourse Changes During the Israel-Gaza Conflict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5189" y="5822022"/>
            <a:ext cx="9132852" cy="374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942" spc="-176">
                <a:solidFill>
                  <a:srgbClr val="00167A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Project Focus: Identification of Linguistic ‘Change Points’</a:t>
            </a:r>
          </a:p>
          <a:p>
            <a:pPr algn="l">
              <a:lnSpc>
                <a:spcPts val="2942"/>
              </a:lnSpc>
            </a:pPr>
            <a:r>
              <a:rPr lang="en-US" sz="2942" spc="-176">
                <a:solidFill>
                  <a:srgbClr val="00167A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and ‘War Phases’ via X (Twitter) Data using google Colab</a:t>
            </a:r>
          </a:p>
          <a:p>
            <a:pPr algn="l">
              <a:lnSpc>
                <a:spcPts val="2942"/>
              </a:lnSpc>
            </a:pPr>
            <a:endParaRPr lang="en-US" sz="2942" spc="-176">
              <a:solidFill>
                <a:srgbClr val="00167A"/>
              </a:solidFill>
              <a:latin typeface="Tex Gyre Bonum"/>
              <a:ea typeface="Tex Gyre Bonum"/>
              <a:cs typeface="Tex Gyre Bonum"/>
              <a:sym typeface="Tex Gyre Bonum"/>
            </a:endParaRPr>
          </a:p>
          <a:p>
            <a:pPr algn="l">
              <a:lnSpc>
                <a:spcPts val="2942"/>
              </a:lnSpc>
            </a:pPr>
            <a:r>
              <a:rPr lang="en-US" sz="2942" spc="-176">
                <a:solidFill>
                  <a:srgbClr val="00167A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Authors: Shadi Alkeesh, Ayman Haj</a:t>
            </a:r>
          </a:p>
          <a:p>
            <a:pPr algn="l">
              <a:lnSpc>
                <a:spcPts val="2942"/>
              </a:lnSpc>
            </a:pPr>
            <a:endParaRPr lang="en-US" sz="2942" spc="-176">
              <a:solidFill>
                <a:srgbClr val="00167A"/>
              </a:solidFill>
              <a:latin typeface="Tex Gyre Bonum"/>
              <a:ea typeface="Tex Gyre Bonum"/>
              <a:cs typeface="Tex Gyre Bonum"/>
              <a:sym typeface="Tex Gyre Bonum"/>
            </a:endParaRPr>
          </a:p>
          <a:p>
            <a:pPr algn="l">
              <a:lnSpc>
                <a:spcPts val="2942"/>
              </a:lnSpc>
            </a:pPr>
            <a:r>
              <a:rPr lang="en-US" sz="2942" spc="-176">
                <a:solidFill>
                  <a:srgbClr val="00167A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Supervisors: Prof. Zeev Volkovich, Dr. Renata Avros</a:t>
            </a:r>
          </a:p>
          <a:p>
            <a:pPr algn="l">
              <a:lnSpc>
                <a:spcPts val="2942"/>
              </a:lnSpc>
            </a:pPr>
            <a:endParaRPr lang="en-US" sz="2942" spc="-176">
              <a:solidFill>
                <a:srgbClr val="00167A"/>
              </a:solidFill>
              <a:latin typeface="Tex Gyre Bonum"/>
              <a:ea typeface="Tex Gyre Bonum"/>
              <a:cs typeface="Tex Gyre Bonum"/>
              <a:sym typeface="Tex Gyre Bonum"/>
            </a:endParaRPr>
          </a:p>
          <a:p>
            <a:pPr algn="l">
              <a:lnSpc>
                <a:spcPts val="2942"/>
              </a:lnSpc>
            </a:pPr>
            <a:r>
              <a:rPr lang="en-US" sz="2942" spc="-176">
                <a:solidFill>
                  <a:srgbClr val="00167A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Project Code: 26-1-R-20</a:t>
            </a:r>
          </a:p>
          <a:p>
            <a:pPr algn="l">
              <a:lnSpc>
                <a:spcPts val="2942"/>
              </a:lnSpc>
            </a:pPr>
            <a:endParaRPr lang="en-US" sz="2942" spc="-176">
              <a:solidFill>
                <a:srgbClr val="00167A"/>
              </a:solidFill>
              <a:latin typeface="Tex Gyre Bonum"/>
              <a:ea typeface="Tex Gyre Bonum"/>
              <a:cs typeface="Tex Gyre Bonum"/>
              <a:sym typeface="Tex Gyre Bonum"/>
            </a:endParaRPr>
          </a:p>
          <a:p>
            <a:pPr algn="l">
              <a:lnSpc>
                <a:spcPts val="2942"/>
              </a:lnSpc>
            </a:pPr>
            <a:r>
              <a:rPr lang="en-US" sz="2942" spc="-176">
                <a:solidFill>
                  <a:srgbClr val="00167A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Date: 26/01/2026</a:t>
            </a:r>
          </a:p>
        </p:txBody>
      </p:sp>
      <p:pic>
        <p:nvPicPr>
          <p:cNvPr id="1026" name="Picture 2" descr="Braude College of Engineering Karmiel">
            <a:extLst>
              <a:ext uri="{FF2B5EF4-FFF2-40B4-BE49-F238E27FC236}">
                <a16:creationId xmlns:a16="http://schemas.microsoft.com/office/drawing/2014/main" id="{214C485A-C5C4-BCB9-1E4C-8FC684E10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6802214"/>
            <a:ext cx="7071864" cy="167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015283" y="1971374"/>
            <a:ext cx="0" cy="7604139"/>
          </a:xfrm>
          <a:prstGeom prst="line">
            <a:avLst/>
          </a:prstGeom>
          <a:ln w="38100" cap="flat">
            <a:solidFill>
              <a:srgbClr val="00167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2115800" y="1971374"/>
            <a:ext cx="0" cy="7604139"/>
          </a:xfrm>
          <a:prstGeom prst="line">
            <a:avLst/>
          </a:prstGeom>
          <a:ln w="38100" cap="flat">
            <a:solidFill>
              <a:srgbClr val="00167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66513" y="1566402"/>
            <a:ext cx="3802323" cy="2754588"/>
          </a:xfrm>
          <a:custGeom>
            <a:avLst/>
            <a:gdLst/>
            <a:ahLst/>
            <a:cxnLst/>
            <a:rect l="l" t="t" r="r" b="b"/>
            <a:pathLst>
              <a:path w="3802323" h="2754588">
                <a:moveTo>
                  <a:pt x="0" y="0"/>
                </a:moveTo>
                <a:lnTo>
                  <a:pt x="3802323" y="0"/>
                </a:lnTo>
                <a:lnTo>
                  <a:pt x="3802323" y="2754587"/>
                </a:lnTo>
                <a:lnTo>
                  <a:pt x="0" y="275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074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325530" y="1917982"/>
            <a:ext cx="4503134" cy="2212507"/>
          </a:xfrm>
          <a:custGeom>
            <a:avLst/>
            <a:gdLst/>
            <a:ahLst/>
            <a:cxnLst/>
            <a:rect l="l" t="t" r="r" b="b"/>
            <a:pathLst>
              <a:path w="4503134" h="2212507">
                <a:moveTo>
                  <a:pt x="0" y="0"/>
                </a:moveTo>
                <a:lnTo>
                  <a:pt x="4503134" y="0"/>
                </a:lnTo>
                <a:lnTo>
                  <a:pt x="4503134" y="2212507"/>
                </a:lnTo>
                <a:lnTo>
                  <a:pt x="0" y="2212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406" r="-949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660126" y="2066625"/>
            <a:ext cx="4223648" cy="2212507"/>
          </a:xfrm>
          <a:custGeom>
            <a:avLst/>
            <a:gdLst/>
            <a:ahLst/>
            <a:cxnLst/>
            <a:rect l="l" t="t" r="r" b="b"/>
            <a:pathLst>
              <a:path w="4223648" h="2212507">
                <a:moveTo>
                  <a:pt x="0" y="0"/>
                </a:moveTo>
                <a:lnTo>
                  <a:pt x="4223648" y="0"/>
                </a:lnTo>
                <a:lnTo>
                  <a:pt x="4223648" y="2212507"/>
                </a:lnTo>
                <a:lnTo>
                  <a:pt x="0" y="2212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45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12624" y="628012"/>
            <a:ext cx="16662753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spc="-338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8512" y="4378139"/>
            <a:ext cx="2746871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11" y="5069654"/>
            <a:ext cx="5546673" cy="373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6"/>
              </a:lnSpc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bridge the gap between traditional journalism analysis and modern social media mining. The project upgrades an existing platform - originally designed for static press - to handle the chaotic, noisy nature of Arabic tweets.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0565" y="4378139"/>
            <a:ext cx="2746871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Approach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81983" y="5022084"/>
            <a:ext cx="5716867" cy="497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Input: Real-time X (Twitter) data stream commencing 7 Oct 2023.</a:t>
            </a: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endParaRPr lang="en-US" sz="3038" u="none" strike="noStrike" spc="-182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Core Tech: N-gram Vector Space Models (VSM) adapted for Arabic morphology.</a:t>
            </a: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endParaRPr lang="en-US" sz="3038" u="none" strike="noStrike" spc="-182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Filtering: Normalized Median (V1) to remove sparse noise. </a:t>
            </a: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endParaRPr lang="en-US" sz="3038" u="none" strike="noStrike" spc="-182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Smoothing: Haar Wavelet </a:t>
            </a: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Transforms to detect edges. </a:t>
            </a:r>
          </a:p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endParaRPr lang="en-US" sz="3038" u="none" strike="noStrike" spc="-182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70501" y="4378139"/>
            <a:ext cx="2746871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Outcome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84601" y="4955409"/>
            <a:ext cx="4974699" cy="46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6"/>
              </a:lnSpc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system capable of detecting 'Social State' fluctuations and grouping chronological days into linguistically homogeneous 'War Phases'.</a:t>
            </a:r>
          </a:p>
          <a:p>
            <a:pPr marL="0" lvl="0" indent="0" algn="l">
              <a:lnSpc>
                <a:spcPts val="3706"/>
              </a:lnSpc>
            </a:pPr>
            <a:r>
              <a:rPr lang="en-US" sz="3038" u="none" strike="noStrike" spc="-1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system successfully identified known geopolitical turning points purely through linguistic shifts.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8812" y="708337"/>
            <a:ext cx="15482907" cy="74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spc="-338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Evolution of the 'Social Mirror'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8590265" y="1453838"/>
            <a:ext cx="19050" cy="6684366"/>
          </a:xfrm>
          <a:prstGeom prst="line">
            <a:avLst/>
          </a:prstGeom>
          <a:ln w="38100" cap="flat">
            <a:solidFill>
              <a:srgbClr val="00167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48812" y="8138204"/>
            <a:ext cx="16857713" cy="1900324"/>
          </a:xfrm>
          <a:custGeom>
            <a:avLst/>
            <a:gdLst/>
            <a:ahLst/>
            <a:cxnLst/>
            <a:rect l="l" t="t" r="r" b="b"/>
            <a:pathLst>
              <a:path w="16857713" h="1900324">
                <a:moveTo>
                  <a:pt x="0" y="0"/>
                </a:moveTo>
                <a:lnTo>
                  <a:pt x="16857713" y="0"/>
                </a:lnTo>
                <a:lnTo>
                  <a:pt x="16857713" y="1900324"/>
                </a:lnTo>
                <a:lnTo>
                  <a:pt x="0" y="1900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3284377"/>
            <a:ext cx="4395291" cy="3796979"/>
          </a:xfrm>
          <a:custGeom>
            <a:avLst/>
            <a:gdLst/>
            <a:ahLst/>
            <a:cxnLst/>
            <a:rect l="l" t="t" r="r" b="b"/>
            <a:pathLst>
              <a:path w="4395291" h="3796979">
                <a:moveTo>
                  <a:pt x="0" y="0"/>
                </a:moveTo>
                <a:lnTo>
                  <a:pt x="4395291" y="0"/>
                </a:lnTo>
                <a:lnTo>
                  <a:pt x="4395291" y="3796979"/>
                </a:lnTo>
                <a:lnTo>
                  <a:pt x="0" y="3796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590265" y="3284377"/>
            <a:ext cx="3908177" cy="3787306"/>
          </a:xfrm>
          <a:custGeom>
            <a:avLst/>
            <a:gdLst/>
            <a:ahLst/>
            <a:cxnLst/>
            <a:rect l="l" t="t" r="r" b="b"/>
            <a:pathLst>
              <a:path w="3908177" h="3787306">
                <a:moveTo>
                  <a:pt x="0" y="0"/>
                </a:moveTo>
                <a:lnTo>
                  <a:pt x="3908177" y="0"/>
                </a:lnTo>
                <a:lnTo>
                  <a:pt x="3908177" y="3787306"/>
                </a:lnTo>
                <a:lnTo>
                  <a:pt x="0" y="3787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024822" y="2878738"/>
            <a:ext cx="4565443" cy="52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795" lvl="1" indent="-306398" algn="l">
              <a:lnSpc>
                <a:spcPts val="3462"/>
              </a:lnSpc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Subject: Traditional Press (e.g., Al-Ahraam) </a:t>
            </a:r>
          </a:p>
          <a:p>
            <a:pPr algn="l">
              <a:lnSpc>
                <a:spcPts val="3462"/>
              </a:lnSpc>
            </a:pPr>
            <a:endParaRPr lang="en-US" sz="2838" u="none" strike="noStrike" spc="-1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12795" lvl="1" indent="-306398" algn="l">
              <a:lnSpc>
                <a:spcPts val="3462"/>
              </a:lnSpc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Cycle: 24-hour editorial loop </a:t>
            </a:r>
          </a:p>
          <a:p>
            <a:pPr algn="l">
              <a:lnSpc>
                <a:spcPts val="3462"/>
              </a:lnSpc>
            </a:pPr>
            <a:endParaRPr lang="en-US" sz="2838" u="none" strike="noStrike" spc="-1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12795" lvl="1" indent="-306398" algn="l">
              <a:lnSpc>
                <a:spcPts val="3462"/>
              </a:lnSpc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Nature: Curated, static, reflects official ideology </a:t>
            </a:r>
          </a:p>
          <a:p>
            <a:pPr algn="l">
              <a:lnSpc>
                <a:spcPts val="3462"/>
              </a:lnSpc>
            </a:pPr>
            <a:endParaRPr lang="en-US" sz="2838" u="none" strike="noStrike" spc="-1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12795" lvl="1" indent="-306398" algn="l">
              <a:lnSpc>
                <a:spcPts val="3462"/>
              </a:lnSpc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Context: Used by Volkovich et al. (2016) to track the 'Arab Spring'.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3654" y="2197554"/>
            <a:ext cx="4808168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Static Mirror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98442" y="2878738"/>
            <a:ext cx="5606820" cy="52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795" lvl="1" indent="-306398" algn="l">
              <a:lnSpc>
                <a:spcPts val="3462"/>
              </a:lnSpc>
              <a:spcBef>
                <a:spcPct val="0"/>
              </a:spcBef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Subject: Social Networks (X/Twitter) </a:t>
            </a:r>
          </a:p>
          <a:p>
            <a:pPr algn="l">
              <a:lnSpc>
                <a:spcPts val="3462"/>
              </a:lnSpc>
              <a:spcBef>
                <a:spcPct val="0"/>
              </a:spcBef>
            </a:pPr>
            <a:endParaRPr lang="en-US" sz="2838" u="none" strike="noStrike" spc="-1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12795" lvl="1" indent="-306398" algn="l">
              <a:lnSpc>
                <a:spcPts val="3462"/>
              </a:lnSpc>
              <a:spcBef>
                <a:spcPct val="0"/>
              </a:spcBef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Cycle: Real-time, continuous stream </a:t>
            </a:r>
          </a:p>
          <a:p>
            <a:pPr algn="l">
              <a:lnSpc>
                <a:spcPts val="3462"/>
              </a:lnSpc>
              <a:spcBef>
                <a:spcPct val="0"/>
              </a:spcBef>
            </a:pPr>
            <a:endParaRPr lang="en-US" sz="2838" u="none" strike="noStrike" spc="-1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12795" lvl="1" indent="-306398" algn="l">
              <a:lnSpc>
                <a:spcPts val="3462"/>
              </a:lnSpc>
              <a:spcBef>
                <a:spcPct val="0"/>
              </a:spcBef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Nature: Unfiltered, chaotic, reflects immediate psyche </a:t>
            </a:r>
          </a:p>
          <a:p>
            <a:pPr algn="l">
              <a:lnSpc>
                <a:spcPts val="3462"/>
              </a:lnSpc>
              <a:spcBef>
                <a:spcPct val="0"/>
              </a:spcBef>
            </a:pPr>
            <a:endParaRPr lang="en-US" sz="2838" u="none" strike="noStrike" spc="-1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12795" lvl="1" indent="-306398" algn="l">
              <a:lnSpc>
                <a:spcPts val="3462"/>
              </a:lnSpc>
              <a:spcBef>
                <a:spcPct val="0"/>
              </a:spcBef>
              <a:buFont typeface="Arial"/>
              <a:buChar char="•"/>
            </a:pPr>
            <a:r>
              <a:rPr lang="en-US" sz="2838" u="none" strike="noStrike" spc="-1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Context: Analyzing the Israel-Gaza conflict (Oct 2023-Present).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74127" y="2197554"/>
            <a:ext cx="4808168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Dynamic Mirror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813" y="8481159"/>
            <a:ext cx="16193496" cy="1163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b="1" spc="-182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Insight: 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spc="-18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While newspapers reflect a curated view of history, social platforms reflect the raw 'Social State.'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spc="-18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However, this reflection is distorted by significant noise, requiring advanced denoising.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188" y="1588789"/>
            <a:ext cx="5698998" cy="8229600"/>
          </a:xfrm>
          <a:custGeom>
            <a:avLst/>
            <a:gdLst/>
            <a:ahLst/>
            <a:cxnLst/>
            <a:rect l="l" t="t" r="r" b="b"/>
            <a:pathLst>
              <a:path w="5698998" h="8229600">
                <a:moveTo>
                  <a:pt x="0" y="0"/>
                </a:moveTo>
                <a:lnTo>
                  <a:pt x="5698998" y="0"/>
                </a:lnTo>
                <a:lnTo>
                  <a:pt x="56989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295541" y="1588789"/>
            <a:ext cx="5698998" cy="8229600"/>
          </a:xfrm>
          <a:custGeom>
            <a:avLst/>
            <a:gdLst/>
            <a:ahLst/>
            <a:cxnLst/>
            <a:rect l="l" t="t" r="r" b="b"/>
            <a:pathLst>
              <a:path w="5698998" h="8229600">
                <a:moveTo>
                  <a:pt x="0" y="0"/>
                </a:moveTo>
                <a:lnTo>
                  <a:pt x="5698998" y="0"/>
                </a:lnTo>
                <a:lnTo>
                  <a:pt x="56989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89814" y="1588789"/>
            <a:ext cx="5698998" cy="8229600"/>
          </a:xfrm>
          <a:custGeom>
            <a:avLst/>
            <a:gdLst/>
            <a:ahLst/>
            <a:cxnLst/>
            <a:rect l="l" t="t" r="r" b="b"/>
            <a:pathLst>
              <a:path w="5698998" h="8229600">
                <a:moveTo>
                  <a:pt x="0" y="0"/>
                </a:moveTo>
                <a:lnTo>
                  <a:pt x="5698998" y="0"/>
                </a:lnTo>
                <a:lnTo>
                  <a:pt x="56989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96543" y="2778006"/>
            <a:ext cx="4927473" cy="3143772"/>
          </a:xfrm>
          <a:custGeom>
            <a:avLst/>
            <a:gdLst/>
            <a:ahLst/>
            <a:cxnLst/>
            <a:rect l="l" t="t" r="r" b="b"/>
            <a:pathLst>
              <a:path w="4927473" h="3143772">
                <a:moveTo>
                  <a:pt x="0" y="0"/>
                </a:moveTo>
                <a:lnTo>
                  <a:pt x="4927473" y="0"/>
                </a:lnTo>
                <a:lnTo>
                  <a:pt x="4927473" y="3143772"/>
                </a:lnTo>
                <a:lnTo>
                  <a:pt x="0" y="314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617103" y="2832340"/>
            <a:ext cx="5053793" cy="3247234"/>
          </a:xfrm>
          <a:custGeom>
            <a:avLst/>
            <a:gdLst/>
            <a:ahLst/>
            <a:cxnLst/>
            <a:rect l="l" t="t" r="r" b="b"/>
            <a:pathLst>
              <a:path w="5053793" h="3247234">
                <a:moveTo>
                  <a:pt x="0" y="0"/>
                </a:moveTo>
                <a:lnTo>
                  <a:pt x="5053794" y="0"/>
                </a:lnTo>
                <a:lnTo>
                  <a:pt x="5053794" y="3247234"/>
                </a:lnTo>
                <a:lnTo>
                  <a:pt x="0" y="32472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613664" y="2778006"/>
            <a:ext cx="4583540" cy="3204422"/>
          </a:xfrm>
          <a:custGeom>
            <a:avLst/>
            <a:gdLst/>
            <a:ahLst/>
            <a:cxnLst/>
            <a:rect l="l" t="t" r="r" b="b"/>
            <a:pathLst>
              <a:path w="4583540" h="3204422">
                <a:moveTo>
                  <a:pt x="0" y="0"/>
                </a:moveTo>
                <a:lnTo>
                  <a:pt x="4583540" y="0"/>
                </a:lnTo>
                <a:lnTo>
                  <a:pt x="4583540" y="3204421"/>
                </a:lnTo>
                <a:lnTo>
                  <a:pt x="0" y="3204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60940" y="532716"/>
            <a:ext cx="1691746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spc="-338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Challenge: Arabic Morphology in the Digital Wild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6543" y="2077768"/>
            <a:ext cx="5698998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Morphological Complexity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940" y="6156747"/>
            <a:ext cx="5057942" cy="291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Rich system of prefixes, suffixes, and 'broken plurals.' </a:t>
            </a:r>
          </a:p>
          <a:p>
            <a:pPr algn="l">
              <a:lnSpc>
                <a:spcPts val="3828"/>
              </a:lnSpc>
            </a:pPr>
            <a:endParaRPr lang="en-US" sz="3138" u="none" strike="noStrike" spc="-18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828"/>
              </a:lnSpc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 usage of conjugation creates a massive number of unique word forms.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01741" y="2077768"/>
            <a:ext cx="5698998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'Twitter' Distortion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7957" y="6156747"/>
            <a:ext cx="4935785" cy="291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Slang, dialects, and non-standard spellings. 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endParaRPr lang="en-US" sz="3138" u="none" strike="noStrike" spc="-18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Frequent omission of diacritics and inconsistent use of characters.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96014" y="2077768"/>
            <a:ext cx="5698998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Dimensionality Explosion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00739" y="6070049"/>
            <a:ext cx="4877146" cy="291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Infinite vocabulary size due to user-generated errors.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endParaRPr lang="en-US" sz="3138" u="none" strike="noStrike" spc="-18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'Bag of Words' models  - we need a robust N-gram dynamic approach.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6840" y="1793651"/>
            <a:ext cx="14918943" cy="4936415"/>
          </a:xfrm>
          <a:custGeom>
            <a:avLst/>
            <a:gdLst/>
            <a:ahLst/>
            <a:cxnLst/>
            <a:rect l="l" t="t" r="r" b="b"/>
            <a:pathLst>
              <a:path w="14918943" h="4936415">
                <a:moveTo>
                  <a:pt x="0" y="0"/>
                </a:moveTo>
                <a:lnTo>
                  <a:pt x="14918943" y="0"/>
                </a:lnTo>
                <a:lnTo>
                  <a:pt x="14918943" y="4936415"/>
                </a:lnTo>
                <a:lnTo>
                  <a:pt x="0" y="4936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926525" y="3443996"/>
            <a:ext cx="321868" cy="286755"/>
          </a:xfrm>
          <a:custGeom>
            <a:avLst/>
            <a:gdLst/>
            <a:ahLst/>
            <a:cxnLst/>
            <a:rect l="l" t="t" r="r" b="b"/>
            <a:pathLst>
              <a:path w="321868" h="286755">
                <a:moveTo>
                  <a:pt x="0" y="0"/>
                </a:moveTo>
                <a:lnTo>
                  <a:pt x="321867" y="0"/>
                </a:lnTo>
                <a:lnTo>
                  <a:pt x="321867" y="286755"/>
                </a:lnTo>
                <a:lnTo>
                  <a:pt x="0" y="286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811803" y="3838088"/>
            <a:ext cx="229444" cy="222663"/>
          </a:xfrm>
          <a:custGeom>
            <a:avLst/>
            <a:gdLst/>
            <a:ahLst/>
            <a:cxnLst/>
            <a:rect l="l" t="t" r="r" b="b"/>
            <a:pathLst>
              <a:path w="229444" h="222663">
                <a:moveTo>
                  <a:pt x="0" y="0"/>
                </a:moveTo>
                <a:lnTo>
                  <a:pt x="229444" y="0"/>
                </a:lnTo>
                <a:lnTo>
                  <a:pt x="229444" y="222663"/>
                </a:lnTo>
                <a:lnTo>
                  <a:pt x="0" y="222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22" b="-15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144000" y="3066311"/>
            <a:ext cx="505112" cy="438650"/>
          </a:xfrm>
          <a:custGeom>
            <a:avLst/>
            <a:gdLst/>
            <a:ahLst/>
            <a:cxnLst/>
            <a:rect l="l" t="t" r="r" b="b"/>
            <a:pathLst>
              <a:path w="505112" h="438650">
                <a:moveTo>
                  <a:pt x="0" y="0"/>
                </a:moveTo>
                <a:lnTo>
                  <a:pt x="505112" y="0"/>
                </a:lnTo>
                <a:lnTo>
                  <a:pt x="505112" y="438650"/>
                </a:lnTo>
                <a:lnTo>
                  <a:pt x="0" y="438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240456" y="3216357"/>
            <a:ext cx="408656" cy="742033"/>
          </a:xfrm>
          <a:custGeom>
            <a:avLst/>
            <a:gdLst/>
            <a:ahLst/>
            <a:cxnLst/>
            <a:rect l="l" t="t" r="r" b="b"/>
            <a:pathLst>
              <a:path w="408656" h="742033">
                <a:moveTo>
                  <a:pt x="0" y="0"/>
                </a:moveTo>
                <a:lnTo>
                  <a:pt x="408656" y="0"/>
                </a:lnTo>
                <a:lnTo>
                  <a:pt x="408656" y="742033"/>
                </a:lnTo>
                <a:lnTo>
                  <a:pt x="0" y="742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704682"/>
            <a:ext cx="17170788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spc="-338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Engine: N-Gram Vector Space Model (VSM)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5447" y="7158471"/>
            <a:ext cx="1609553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b="1" spc="-182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447" y="7629122"/>
            <a:ext cx="7781753" cy="1458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N-gram is a connecting sequence of N</a:t>
            </a:r>
          </a:p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characters from a text. We use (e.g., 3-grams)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capture the 'trilateral root' of Arabic words.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62429" y="7158471"/>
            <a:ext cx="362957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b="1" spc="-182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does this work?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62429" y="7629122"/>
            <a:ext cx="9491102" cy="243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Implicit Lemmatization: Captures root meaning without complex dictionaries. 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Error Tolerance: Whether a user writes 'the-bombing' or 'and-bombing', the root sequence remains detectable.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2">
            <a:extLst>
              <a:ext uri="{FF2B5EF4-FFF2-40B4-BE49-F238E27FC236}">
                <a16:creationId xmlns:a16="http://schemas.microsoft.com/office/drawing/2014/main" id="{169953D8-43AE-C464-02EE-3AA2BF8B4B4E}"/>
              </a:ext>
            </a:extLst>
          </p:cNvPr>
          <p:cNvSpPr/>
          <p:nvPr/>
        </p:nvSpPr>
        <p:spPr>
          <a:xfrm>
            <a:off x="6721604" y="2686078"/>
            <a:ext cx="4810891" cy="4810891"/>
          </a:xfrm>
          <a:custGeom>
            <a:avLst/>
            <a:gdLst/>
            <a:ahLst/>
            <a:cxnLst/>
            <a:rect l="l" t="t" r="r" b="b"/>
            <a:pathLst>
              <a:path w="4810891" h="4810891">
                <a:moveTo>
                  <a:pt x="0" y="0"/>
                </a:moveTo>
                <a:lnTo>
                  <a:pt x="4810891" y="0"/>
                </a:lnTo>
                <a:lnTo>
                  <a:pt x="4810891" y="4810890"/>
                </a:lnTo>
                <a:lnTo>
                  <a:pt x="0" y="4810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136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260339" y="2738055"/>
            <a:ext cx="4810891" cy="4810891"/>
          </a:xfrm>
          <a:custGeom>
            <a:avLst/>
            <a:gdLst/>
            <a:ahLst/>
            <a:cxnLst/>
            <a:rect l="l" t="t" r="r" b="b"/>
            <a:pathLst>
              <a:path w="4810891" h="4810891">
                <a:moveTo>
                  <a:pt x="0" y="0"/>
                </a:moveTo>
                <a:lnTo>
                  <a:pt x="4810891" y="0"/>
                </a:lnTo>
                <a:lnTo>
                  <a:pt x="4810891" y="4810890"/>
                </a:lnTo>
                <a:lnTo>
                  <a:pt x="0" y="4810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136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71230" y="4665599"/>
            <a:ext cx="1667325" cy="851851"/>
          </a:xfrm>
          <a:custGeom>
            <a:avLst/>
            <a:gdLst/>
            <a:ahLst/>
            <a:cxnLst/>
            <a:rect l="l" t="t" r="r" b="b"/>
            <a:pathLst>
              <a:path w="1667325" h="851851">
                <a:moveTo>
                  <a:pt x="0" y="0"/>
                </a:moveTo>
                <a:lnTo>
                  <a:pt x="1667325" y="0"/>
                </a:lnTo>
                <a:lnTo>
                  <a:pt x="1667325" y="851851"/>
                </a:lnTo>
                <a:lnTo>
                  <a:pt x="0" y="851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549445" y="4665599"/>
            <a:ext cx="1667325" cy="851851"/>
          </a:xfrm>
          <a:custGeom>
            <a:avLst/>
            <a:gdLst/>
            <a:ahLst/>
            <a:cxnLst/>
            <a:rect l="l" t="t" r="r" b="b"/>
            <a:pathLst>
              <a:path w="1667325" h="851851">
                <a:moveTo>
                  <a:pt x="0" y="0"/>
                </a:moveTo>
                <a:lnTo>
                  <a:pt x="1667325" y="0"/>
                </a:lnTo>
                <a:lnTo>
                  <a:pt x="1667325" y="851851"/>
                </a:lnTo>
                <a:lnTo>
                  <a:pt x="0" y="851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38555" y="3056967"/>
            <a:ext cx="4336032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38"/>
              </a:lnSpc>
              <a:spcBef>
                <a:spcPct val="0"/>
              </a:spcBef>
            </a:pPr>
            <a:r>
              <a:rPr lang="en-US" sz="3038" b="1" u="none" strike="noStrike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NLP Filter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84867" y="3759146"/>
            <a:ext cx="3843408" cy="3601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795" lvl="1" indent="-306398" algn="l">
              <a:lnSpc>
                <a:spcPts val="3462"/>
              </a:lnSpc>
              <a:buAutoNum type="arabicPeriod"/>
            </a:pP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Alef Normalization: Convert all to simple Alef </a:t>
            </a:r>
            <a:r>
              <a:rPr lang="en-US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(</a:t>
            </a:r>
            <a:r>
              <a:rPr lang="ar-EG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  <a:rtl/>
              </a:rPr>
              <a:t>ا</a:t>
            </a:r>
            <a:r>
              <a:rPr lang="en-US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). </a:t>
            </a:r>
          </a:p>
          <a:p>
            <a:pPr marL="612795" lvl="1" indent="-306398" algn="l">
              <a:lnSpc>
                <a:spcPts val="3462"/>
              </a:lnSpc>
              <a:buAutoNum type="arabicPeriod"/>
            </a:pP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De-Noising: Remove diacritics &amp; </a:t>
            </a:r>
            <a:r>
              <a:rPr lang="en-US" sz="2838" u="none" strike="noStrike" spc="-17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Tatweel</a:t>
            </a: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  <a:p>
            <a:pPr marL="612795" lvl="1" indent="-306398" algn="l">
              <a:lnSpc>
                <a:spcPts val="3462"/>
              </a:lnSpc>
              <a:buAutoNum type="arabicPeriod"/>
            </a:pP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Spelling Correction: Taa </a:t>
            </a:r>
            <a:r>
              <a:rPr lang="en-US" sz="2838" u="none" strike="noStrike" spc="-17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Marbuta</a:t>
            </a: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(</a:t>
            </a:r>
            <a:r>
              <a:rPr lang="ar-EG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  <a:rtl/>
              </a:rPr>
              <a:t>ة</a:t>
            </a:r>
            <a:r>
              <a:rPr lang="en-US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) </a:t>
            </a: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</a:t>
            </a:r>
            <a:r>
              <a:rPr lang="en-US" sz="2838" u="none" strike="noStrike" spc="-17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Haa</a:t>
            </a:r>
            <a:r>
              <a:rPr lang="en-US" sz="2838" u="none" strike="noStrike" spc="-17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(</a:t>
            </a:r>
            <a:r>
              <a:rPr lang="ar-EG" sz="4000" u="none" strike="noStrike" spc="-170" dirty="0">
                <a:solidFill>
                  <a:srgbClr val="000000"/>
                </a:solidFill>
                <a:latin typeface="Dubai Light" panose="020B0303030403030204" pitchFamily="34" charset="-78"/>
                <a:ea typeface="Open Sauce"/>
                <a:cs typeface="Dubai Light" panose="020B0303030403030204" pitchFamily="34" charset="-78"/>
                <a:sym typeface="Open Sauce"/>
                <a:rtl/>
              </a:rPr>
              <a:t>ه</a:t>
            </a:r>
            <a:r>
              <a:rPr lang="en-US" sz="4000" u="none" strike="noStrike" spc="-170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). </a:t>
            </a:r>
            <a:endParaRPr lang="en-US" sz="2838" u="none" strike="noStrike" spc="-170" dirty="0">
              <a:solidFill>
                <a:srgbClr val="000000"/>
              </a:solidFill>
              <a:latin typeface="Sakkal Majalla" panose="02000000000000000000" pitchFamily="2" charset="-78"/>
              <a:ea typeface="Open Sauce"/>
              <a:cs typeface="Sakkal Majalla" panose="02000000000000000000" pitchFamily="2" charset="-78"/>
              <a:sym typeface="Open Sauce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216770" y="2686079"/>
            <a:ext cx="4810891" cy="4810891"/>
          </a:xfrm>
          <a:custGeom>
            <a:avLst/>
            <a:gdLst/>
            <a:ahLst/>
            <a:cxnLst/>
            <a:rect l="l" t="t" r="r" b="b"/>
            <a:pathLst>
              <a:path w="4810891" h="4810891">
                <a:moveTo>
                  <a:pt x="0" y="0"/>
                </a:moveTo>
                <a:lnTo>
                  <a:pt x="4810891" y="0"/>
                </a:lnTo>
                <a:lnTo>
                  <a:pt x="4810891" y="4810891"/>
                </a:lnTo>
                <a:lnTo>
                  <a:pt x="0" y="481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136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077367" y="7910895"/>
            <a:ext cx="12133266" cy="2206048"/>
          </a:xfrm>
          <a:custGeom>
            <a:avLst/>
            <a:gdLst/>
            <a:ahLst/>
            <a:cxnLst/>
            <a:rect l="l" t="t" r="r" b="b"/>
            <a:pathLst>
              <a:path w="12133266" h="2206048">
                <a:moveTo>
                  <a:pt x="0" y="0"/>
                </a:moveTo>
                <a:lnTo>
                  <a:pt x="12133266" y="0"/>
                </a:lnTo>
                <a:lnTo>
                  <a:pt x="12133266" y="2206049"/>
                </a:lnTo>
                <a:lnTo>
                  <a:pt x="0" y="2206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704682"/>
            <a:ext cx="13397555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8"/>
              </a:lnSpc>
            </a:pPr>
            <a:r>
              <a:rPr lang="en-US" sz="5638" b="1" u="none" strike="noStrike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1: The Normalization Pipeline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339" y="3003621"/>
            <a:ext cx="4810891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b="1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Raw Input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407" y="4114609"/>
            <a:ext cx="3701896" cy="289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Text with inconsistent</a:t>
            </a:r>
          </a:p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Alef </a:t>
            </a:r>
            <a:r>
              <a:rPr lang="en-US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(</a:t>
            </a:r>
            <a:r>
              <a:rPr lang="ar-EG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  <a:rtl/>
              </a:rPr>
              <a:t>أ ,إ ,آ</a:t>
            </a:r>
            <a:r>
              <a:rPr lang="en-US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), </a:t>
            </a:r>
          </a:p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diacritics </a:t>
            </a:r>
          </a:p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3138" u="none" strike="noStrike" spc="-18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Tashkeel</a:t>
            </a: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), and 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Tatweel</a:t>
            </a: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stretching.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16770" y="3003621"/>
            <a:ext cx="4810891" cy="4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3038" b="1" spc="-182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Standardized Output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07345" y="4657671"/>
            <a:ext cx="2938002" cy="48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Unified Root 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14312" y="8141046"/>
            <a:ext cx="11459376" cy="145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8"/>
              </a:lnSpc>
              <a:spcBef>
                <a:spcPct val="0"/>
              </a:spcBef>
            </a:pPr>
            <a:r>
              <a:rPr lang="en-US" sz="3138" b="1" u="none" strike="noStrike" spc="-18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Example: 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'Gaza' can be spelled </a:t>
            </a:r>
            <a:r>
              <a:rPr lang="en-US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‘</a:t>
            </a:r>
            <a:r>
              <a:rPr lang="ar-EG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  <a:rtl/>
              </a:rPr>
              <a:t>غزة</a:t>
            </a:r>
            <a:r>
              <a:rPr lang="en-US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’  </a:t>
            </a: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 </a:t>
            </a:r>
            <a:r>
              <a:rPr lang="en-US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‘</a:t>
            </a:r>
            <a:r>
              <a:rPr lang="ar-EG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  <a:rtl/>
              </a:rPr>
              <a:t>غزه</a:t>
            </a:r>
            <a:r>
              <a:rPr lang="en-US" sz="4000" u="none" strike="noStrike" spc="-188" dirty="0">
                <a:solidFill>
                  <a:srgbClr val="000000"/>
                </a:solidFill>
                <a:latin typeface="Sakkal Majalla" panose="02000000000000000000" pitchFamily="2" charset="-78"/>
                <a:ea typeface="Open Sauce"/>
                <a:cs typeface="Sakkal Majalla" panose="02000000000000000000" pitchFamily="2" charset="-78"/>
                <a:sym typeface="Open Sauce"/>
              </a:rPr>
              <a:t>’. </a:t>
            </a:r>
            <a:r>
              <a:rPr lang="en-US" sz="3138" u="none" strike="noStrike" spc="-18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With normalization, both map to the exact same root vector, ensuring mathematical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6" y="6472988"/>
            <a:ext cx="6981180" cy="2904579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810244" y="1557534"/>
            <a:ext cx="11401686" cy="6001968"/>
          </a:xfrm>
          <a:custGeom>
            <a:avLst/>
            <a:gdLst/>
            <a:ahLst/>
            <a:cxnLst/>
            <a:rect l="l" t="t" r="r" b="b"/>
            <a:pathLst>
              <a:path w="11401686" h="6001968">
                <a:moveTo>
                  <a:pt x="0" y="0"/>
                </a:moveTo>
                <a:lnTo>
                  <a:pt x="11401687" y="0"/>
                </a:lnTo>
                <a:lnTo>
                  <a:pt x="11401687" y="6001968"/>
                </a:lnTo>
                <a:lnTo>
                  <a:pt x="0" y="6001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6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347494"/>
            <a:ext cx="16709644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2: Feature Selection (Filtering the Noise)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479" y="2449679"/>
            <a:ext cx="5302607" cy="243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38" b="1" u="none" strike="noStrike" spc="-188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Problem: </a:t>
            </a:r>
          </a:p>
          <a:p>
            <a:pPr marL="0" lvl="1" indent="0" algn="l">
              <a:lnSpc>
                <a:spcPts val="3828"/>
              </a:lnSpc>
              <a:spcBef>
                <a:spcPct val="0"/>
              </a:spcBef>
            </a:pPr>
            <a:r>
              <a:rPr lang="en-US" sz="3138" u="none" strike="noStrike" spc="-1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Vector Space Models create sparse, high-dimensional data. Most terms are rare and contribute only noise.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2363" y="5672285"/>
            <a:ext cx="6223237" cy="953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92"/>
              </a:lnSpc>
              <a:spcBef>
                <a:spcPct val="0"/>
              </a:spcBef>
            </a:pPr>
            <a:r>
              <a:rPr lang="en-US" sz="3692" b="1" u="none" strike="noStrike" spc="-221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Solution: The Normalized</a:t>
            </a:r>
          </a:p>
          <a:p>
            <a:pPr marL="0" lvl="0" indent="0" algn="l">
              <a:lnSpc>
                <a:spcPts val="3692"/>
              </a:lnSpc>
              <a:spcBef>
                <a:spcPct val="0"/>
              </a:spcBef>
            </a:pPr>
            <a:r>
              <a:rPr lang="en-US" sz="3692" b="1" u="none" strike="noStrike" spc="-221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Median (V1).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02554" y="7997680"/>
            <a:ext cx="10309377" cy="157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6"/>
              </a:lnSpc>
              <a:spcBef>
                <a:spcPct val="0"/>
              </a:spcBef>
            </a:pPr>
            <a:r>
              <a:rPr lang="en-US" sz="3374" b="1" u="none" strike="noStrike" spc="-20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Method:</a:t>
            </a:r>
          </a:p>
          <a:p>
            <a:pPr marL="0" lvl="1" indent="0" algn="l">
              <a:lnSpc>
                <a:spcPts val="4116"/>
              </a:lnSpc>
              <a:spcBef>
                <a:spcPct val="0"/>
              </a:spcBef>
            </a:pPr>
            <a:r>
              <a:rPr lang="en-US" sz="3374" u="none" strike="noStrike" spc="-2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strictly select only N-grams that exceed a specific 'heaviness' threshold, filtering out transient chatter.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0248" y="3069590"/>
            <a:ext cx="9738360" cy="414782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9144000" y="3173763"/>
            <a:ext cx="8765385" cy="4007332"/>
          </a:xfrm>
          <a:custGeom>
            <a:avLst/>
            <a:gdLst/>
            <a:ahLst/>
            <a:cxnLst/>
            <a:rect l="l" t="t" r="r" b="b"/>
            <a:pathLst>
              <a:path w="8765385" h="4007332">
                <a:moveTo>
                  <a:pt x="0" y="0"/>
                </a:moveTo>
                <a:lnTo>
                  <a:pt x="8765385" y="0"/>
                </a:lnTo>
                <a:lnTo>
                  <a:pt x="8765385" y="4007332"/>
                </a:lnTo>
                <a:lnTo>
                  <a:pt x="0" y="400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2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14275" y="347494"/>
            <a:ext cx="17873725" cy="146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3: Measuring the 'Pulse' (Mean Rank Dependency)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4275" y="2181810"/>
            <a:ext cx="17873725" cy="99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0"/>
              </a:lnSpc>
              <a:spcBef>
                <a:spcPct val="0"/>
              </a:spcBef>
            </a:pPr>
            <a:r>
              <a:rPr lang="en-US" sz="3238" u="none" strike="noStrike" spc="-19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Discourse has "memory." Today's tweets are deeply influenced by yesterday's. We measure the stability of this relationship using Mean Rank Dependency (ZVT).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4274" y="8477169"/>
            <a:ext cx="17340325" cy="1552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3375" spc="-20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Interpretation:</a:t>
            </a:r>
          </a:p>
          <a:p>
            <a:pPr marL="728743" lvl="1" indent="-364372" algn="just">
              <a:lnSpc>
                <a:spcPts val="4050"/>
              </a:lnSpc>
              <a:buFont typeface="Arial"/>
              <a:buChar char="•"/>
            </a:pPr>
            <a:r>
              <a:rPr lang="en-US" sz="3375" b="1" spc="-20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 Correlation: </a:t>
            </a:r>
            <a:r>
              <a:rPr lang="en-US" sz="3375" spc="-20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Stable discourse (Routine). </a:t>
            </a:r>
          </a:p>
          <a:p>
            <a:pPr marL="728743" lvl="1" indent="-364372" algn="just">
              <a:lnSpc>
                <a:spcPts val="4050"/>
              </a:lnSpc>
              <a:buFont typeface="Arial"/>
              <a:buChar char="•"/>
            </a:pPr>
            <a:r>
              <a:rPr lang="en-US" sz="3375" b="1" spc="-20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Sharp Drop:</a:t>
            </a:r>
            <a:r>
              <a:rPr lang="en-US" sz="3375" spc="-20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"Rupture" or Shock Event. The ranking of terms has fundamentally changed.</a:t>
            </a:r>
            <a:r>
              <a:rPr lang="en-US" sz="3375" b="1" spc="-20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5929" y="5846676"/>
            <a:ext cx="11282453" cy="35476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06139" y="1579773"/>
            <a:ext cx="11881861" cy="7966691"/>
          </a:xfrm>
          <a:custGeom>
            <a:avLst/>
            <a:gdLst/>
            <a:ahLst/>
            <a:cxnLst/>
            <a:rect l="l" t="t" r="r" b="b"/>
            <a:pathLst>
              <a:path w="11881861" h="7966691">
                <a:moveTo>
                  <a:pt x="0" y="0"/>
                </a:moveTo>
                <a:lnTo>
                  <a:pt x="11881861" y="0"/>
                </a:lnTo>
                <a:lnTo>
                  <a:pt x="11881861" y="7966691"/>
                </a:lnTo>
                <a:lnTo>
                  <a:pt x="0" y="7966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611527"/>
            <a:ext cx="16422642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4: Detecting Change Points via Wavelets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3994" y="2425594"/>
            <a:ext cx="5856034" cy="347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647"/>
              </a:lnSpc>
              <a:spcBef>
                <a:spcPct val="0"/>
              </a:spcBef>
            </a:pPr>
            <a:r>
              <a:rPr lang="en-US" sz="3809" u="none" strike="noStrike" spc="-2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Raw correlation data is non-stationary and jittery. To find the exact moment a narrative shifts, we use the </a:t>
            </a:r>
            <a:r>
              <a:rPr lang="en-US" sz="3809" b="1" u="none" strike="noStrike" spc="-228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Haar Discrete Wavelet Transform.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3994" y="6768219"/>
            <a:ext cx="5856034" cy="249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966"/>
              </a:lnSpc>
              <a:spcBef>
                <a:spcPct val="0"/>
              </a:spcBef>
            </a:pPr>
            <a:r>
              <a:rPr lang="en-US" sz="4071" u="none" strike="noStrike" spc="-24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acts as a 'step function' filter, smoothing the noise to reveal sharp edges (transitions).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05138" y="2721386"/>
            <a:ext cx="10582862" cy="2663083"/>
          </a:xfrm>
          <a:custGeom>
            <a:avLst/>
            <a:gdLst/>
            <a:ahLst/>
            <a:cxnLst/>
            <a:rect l="l" t="t" r="r" b="b"/>
            <a:pathLst>
              <a:path w="10582862" h="2663083">
                <a:moveTo>
                  <a:pt x="0" y="0"/>
                </a:moveTo>
                <a:lnTo>
                  <a:pt x="10582862" y="0"/>
                </a:lnTo>
                <a:lnTo>
                  <a:pt x="10582862" y="2663084"/>
                </a:lnTo>
                <a:lnTo>
                  <a:pt x="0" y="266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1354" y="587176"/>
            <a:ext cx="16893988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5: Clustering the 'Phases of War'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5244" y="2974521"/>
            <a:ext cx="7439976" cy="190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5"/>
              </a:lnSpc>
            </a:pPr>
            <a:r>
              <a:rPr lang="en-US" sz="3942" b="1" u="none" strike="noStrike" spc="-236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  <a:r>
              <a:rPr lang="en-US" sz="3942" u="none" strike="noStrike" spc="-236">
                <a:solidFill>
                  <a:srgbClr val="00167A"/>
                </a:solidFill>
                <a:latin typeface="Open Sauce"/>
                <a:ea typeface="Open Sauce"/>
                <a:cs typeface="Open Sauce"/>
                <a:sym typeface="Open Sauce"/>
              </a:rPr>
              <a:t> To partition the timeline into linguistically homogeneous groups (clusters).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1483" y="5915984"/>
            <a:ext cx="7705718" cy="2541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45"/>
              </a:lnSpc>
            </a:pPr>
            <a:r>
              <a:rPr lang="en-US" sz="3942" u="none" strike="noStrike" spc="-236" dirty="0">
                <a:solidFill>
                  <a:srgbClr val="00167A"/>
                </a:solidFill>
                <a:latin typeface="Open Sauce"/>
                <a:ea typeface="Open Sauce"/>
                <a:cs typeface="Open Sauce"/>
                <a:sym typeface="Open Sauce"/>
              </a:rPr>
              <a:t>Algorithm: </a:t>
            </a:r>
            <a:r>
              <a:rPr lang="en-US" sz="3942" b="1" u="none" strike="noStrike" spc="-236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PAM (Partitioning Around Medoids).</a:t>
            </a:r>
            <a:r>
              <a:rPr lang="en-US" sz="3942" u="none" strike="noStrike" spc="-236" dirty="0">
                <a:solidFill>
                  <a:srgbClr val="00167A"/>
                </a:solidFill>
                <a:latin typeface="Open Sauce"/>
                <a:ea typeface="Open Sauce"/>
                <a:cs typeface="Open Sauce"/>
                <a:sym typeface="Open Sauce"/>
              </a:rPr>
              <a:t> Selected for its robustness to outliers compared to K-Means.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97886" y="5706265"/>
            <a:ext cx="6080314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38"/>
              </a:lnSpc>
              <a:spcBef>
                <a:spcPct val="0"/>
              </a:spcBef>
            </a:pPr>
            <a:r>
              <a:rPr lang="en-US" sz="4138" b="1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Distance Metric (DZVT)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9516" y="6795148"/>
            <a:ext cx="9515454" cy="1662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06"/>
              </a:lnSpc>
            </a:pPr>
            <a:r>
              <a:rPr lang="en-US" sz="3642" u="none" strike="noStrike" spc="-218">
                <a:solidFill>
                  <a:srgbClr val="001365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DZVT measures 'Text Diversity.' If DZVT = 0, two days share the exact same linguistic style and belong to the same War Phase. 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92398" y="7470391"/>
            <a:ext cx="20872796" cy="39502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575" y="1129121"/>
            <a:ext cx="18288000" cy="9157879"/>
          </a:xfrm>
          <a:custGeom>
            <a:avLst/>
            <a:gdLst>
              <a:gd name="csX0" fmla="*/ 0 w 18410738"/>
              <a:gd name="csY0" fmla="*/ 0 h 9157879"/>
              <a:gd name="csX1" fmla="*/ 18410738 w 18410738"/>
              <a:gd name="csY1" fmla="*/ 0 h 9157879"/>
              <a:gd name="csX2" fmla="*/ 18410738 w 18410738"/>
              <a:gd name="csY2" fmla="*/ 8800692 h 9157879"/>
              <a:gd name="csX3" fmla="*/ 0 w 18410738"/>
              <a:gd name="csY3" fmla="*/ 9157879 h 9157879"/>
              <a:gd name="csX4" fmla="*/ 0 w 18410738"/>
              <a:gd name="csY4" fmla="*/ 0 h 91578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410738" h="9157879">
                <a:moveTo>
                  <a:pt x="0" y="0"/>
                </a:moveTo>
                <a:lnTo>
                  <a:pt x="18410738" y="0"/>
                </a:lnTo>
                <a:lnTo>
                  <a:pt x="18410738" y="8800692"/>
                </a:lnTo>
                <a:lnTo>
                  <a:pt x="0" y="9157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1" t="-16375" r="-1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87194" y="430897"/>
            <a:ext cx="17319805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Architecture: The 'Event-Driven'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6393" y="3936227"/>
            <a:ext cx="17057761" cy="2388980"/>
          </a:xfrm>
          <a:custGeom>
            <a:avLst/>
            <a:gdLst/>
            <a:ahLst/>
            <a:cxnLst/>
            <a:rect l="l" t="t" r="r" b="b"/>
            <a:pathLst>
              <a:path w="17057761" h="2388980">
                <a:moveTo>
                  <a:pt x="0" y="0"/>
                </a:moveTo>
                <a:lnTo>
                  <a:pt x="17057761" y="0"/>
                </a:lnTo>
                <a:lnTo>
                  <a:pt x="17057761" y="2388980"/>
                </a:lnTo>
                <a:lnTo>
                  <a:pt x="0" y="2388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67081" y="5362123"/>
            <a:ext cx="3810806" cy="808605"/>
          </a:xfrm>
          <a:custGeom>
            <a:avLst/>
            <a:gdLst/>
            <a:ahLst/>
            <a:cxnLst/>
            <a:rect l="l" t="t" r="r" b="b"/>
            <a:pathLst>
              <a:path w="3810806" h="808605">
                <a:moveTo>
                  <a:pt x="0" y="0"/>
                </a:moveTo>
                <a:lnTo>
                  <a:pt x="3810806" y="0"/>
                </a:lnTo>
                <a:lnTo>
                  <a:pt x="3810806" y="808604"/>
                </a:lnTo>
                <a:lnTo>
                  <a:pt x="0" y="808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020" r="-590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06392" y="704682"/>
            <a:ext cx="1689580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Validation: Correlation with Geopolitical Reality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59462" y="2960305"/>
            <a:ext cx="2055338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Oct 7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(Outbreak)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0604" y="2960305"/>
            <a:ext cx="1912396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Oct 27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(Invasion)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48170" y="2960305"/>
            <a:ext cx="2196629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Nov 24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Ceasefire</a:t>
            </a: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9556" y="6553807"/>
            <a:ext cx="3861732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System detects sharp correlation drop (Rupture).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83104" y="6363307"/>
            <a:ext cx="4432371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System marks a Phase Transition corresponding to ground maneuvers.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53038" y="6372832"/>
            <a:ext cx="5406262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Clustering algorithm identifies a stable, homogeneous block distinct from combat phases.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462" y="8886825"/>
            <a:ext cx="1794707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Verdict: The linguistic shifts identified by the math align perfectly with known historical ground truth.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55256"/>
              </p:ext>
            </p:extLst>
          </p:nvPr>
        </p:nvGraphicFramePr>
        <p:xfrm>
          <a:off x="2171002" y="1287427"/>
          <a:ext cx="13945995" cy="8675014"/>
        </p:xfrm>
        <a:graphic>
          <a:graphicData uri="http://schemas.openxmlformats.org/drawingml/2006/table">
            <a:tbl>
              <a:tblPr/>
              <a:tblGrid>
                <a:gridCol w="46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79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Test 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B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Focus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B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Key Success Criteria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B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331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Unit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Algorithm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Normalization maps variants correctly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Spearman Correlation 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Distance Metric starts at 0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endParaRPr lang="en-US" sz="1800">
                        <a:solidFill>
                          <a:srgbClr val="000000"/>
                        </a:solidFill>
                        <a:latin typeface="Open Sauce"/>
                        <a:ea typeface="Open Sauce"/>
                        <a:cs typeface="Open Sauce"/>
                        <a:sym typeface="Open Sauce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Pipeline Integrity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Features reduced to 1-10% (Noise removed)</a:t>
                      </a:r>
                      <a:endParaRPr lang="en-US" sz="1100" dirty="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Output timeline match input days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endParaRPr lang="en-US" sz="1800" dirty="0">
                        <a:solidFill>
                          <a:srgbClr val="000000"/>
                        </a:solidFill>
                        <a:latin typeface="Open Sauce"/>
                        <a:ea typeface="Open Sauce"/>
                        <a:cs typeface="Open Sauce"/>
                        <a:sym typeface="Open Sauce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331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Robustness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Code Health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API Resilience (Auto-retry on 429 errors)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Zero crashes on malformed data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endParaRPr lang="en-US" sz="1800" dirty="0">
                        <a:solidFill>
                          <a:srgbClr val="000000"/>
                        </a:solidFill>
                        <a:latin typeface="Open Sauce"/>
                        <a:ea typeface="Open Sauce"/>
                        <a:cs typeface="Open Sauce"/>
                        <a:sym typeface="Open Sauce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497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Ground Truth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Historical Validity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Oct 7: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Detect sharp correlation drop</a:t>
                      </a:r>
                      <a:endParaRPr lang="en-US" sz="1100" dirty="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Oct 27: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Detect invasion transition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•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Nov 24: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Detect ceasefire cluster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endParaRPr lang="en-US" sz="1800" dirty="0">
                        <a:solidFill>
                          <a:srgbClr val="000000"/>
                        </a:solidFill>
                        <a:latin typeface="Open Sauce"/>
                        <a:ea typeface="Open Sauce"/>
                        <a:cs typeface="Open Sauce"/>
                        <a:sym typeface="Open Sauce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3792026" y="347494"/>
            <a:ext cx="10304973" cy="146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5638" b="1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Comprehen</a:t>
            </a:r>
            <a:r>
              <a:rPr lang="en-US" sz="5638" b="1" u="none" strike="noStrike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sive Testing Plan</a:t>
            </a:r>
          </a:p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endParaRPr lang="en-US" sz="5638" b="1" u="none" strike="noStrike" dirty="0">
              <a:solidFill>
                <a:srgbClr val="00167A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4605" y="2962010"/>
            <a:ext cx="787664" cy="3515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3373" y="1761181"/>
            <a:ext cx="15495927" cy="6254380"/>
          </a:xfrm>
          <a:custGeom>
            <a:avLst/>
            <a:gdLst/>
            <a:ahLst/>
            <a:cxnLst/>
            <a:rect l="l" t="t" r="r" b="b"/>
            <a:pathLst>
              <a:path w="15495927" h="6254380">
                <a:moveTo>
                  <a:pt x="0" y="0"/>
                </a:moveTo>
                <a:lnTo>
                  <a:pt x="15495927" y="0"/>
                </a:lnTo>
                <a:lnTo>
                  <a:pt x="15495927" y="6254380"/>
                </a:lnTo>
                <a:lnTo>
                  <a:pt x="0" y="625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275020" y="704682"/>
            <a:ext cx="982198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 dirty="0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Visualizing the Social State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5083" y="8690374"/>
            <a:ext cx="16537833" cy="119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  <a:spcBef>
                <a:spcPct val="0"/>
              </a:spcBef>
            </a:pPr>
            <a:r>
              <a:rPr lang="en-US" sz="3099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The system successfully translates millions of chaotic tweets into a structured historical narrative, identifying periods of stability and rupture without human editorial intervention.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109" y="1823679"/>
            <a:ext cx="1154365" cy="2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3"/>
              </a:lnSpc>
              <a:spcBef>
                <a:spcPct val="0"/>
              </a:spcBef>
            </a:pPr>
            <a:r>
              <a:rPr lang="en-US" sz="20153" b="1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4321" y="4519261"/>
            <a:ext cx="1481381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  <a:spcBef>
                <a:spcPct val="0"/>
              </a:spcBef>
            </a:pPr>
            <a:r>
              <a:rPr lang="en-US" sz="18000" b="1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2255" y="7116351"/>
            <a:ext cx="1513447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  <a:spcBef>
                <a:spcPct val="0"/>
              </a:spcBef>
            </a:pPr>
            <a:r>
              <a:rPr lang="en-US" sz="18000" b="1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69253"/>
            <a:ext cx="17171268" cy="75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8"/>
              </a:lnSpc>
              <a:spcBef>
                <a:spcPct val="0"/>
              </a:spcBef>
            </a:pPr>
            <a:r>
              <a:rPr lang="en-US" sz="5638" b="1" u="none" strike="noStrike">
                <a:solidFill>
                  <a:srgbClr val="00167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Conclusion: A New Lens for Conflict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75376" y="2095138"/>
            <a:ext cx="14289608" cy="1859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451"/>
              </a:lnSpc>
            </a:pPr>
            <a:r>
              <a:rPr lang="en-US" sz="4699" b="1" u="none" strike="noStrike" dirty="0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Upgraded Social Mirror</a:t>
            </a:r>
          </a:p>
          <a:p>
            <a:pPr marL="0" lvl="0" indent="0" algn="l">
              <a:lnSpc>
                <a:spcPts val="4523"/>
              </a:lnSpc>
            </a:pPr>
            <a:r>
              <a:rPr lang="en-US" sz="3899" u="none" strike="noStrike" dirty="0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Moved from static press analysis to dynamic social mining,</a:t>
            </a:r>
          </a:p>
          <a:p>
            <a:pPr marL="0" lvl="0" indent="0" algn="l">
              <a:lnSpc>
                <a:spcPts val="4523"/>
              </a:lnSpc>
            </a:pPr>
            <a:r>
              <a:rPr lang="en-US" sz="3899" u="none" strike="noStrike" dirty="0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capable of handling real-time data streams.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5376" y="4643628"/>
            <a:ext cx="14301300" cy="1859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451"/>
              </a:lnSpc>
            </a:pPr>
            <a:r>
              <a:rPr lang="en-US" sz="4699" b="1" dirty="0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</a:t>
            </a:r>
            <a:r>
              <a:rPr lang="en-US" sz="4699" b="1" u="none" strike="noStrike" dirty="0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guistic Breakthrough</a:t>
            </a:r>
          </a:p>
          <a:p>
            <a:pPr marL="0" lvl="0" indent="0" algn="l">
              <a:lnSpc>
                <a:spcPts val="4523"/>
              </a:lnSpc>
            </a:pPr>
            <a:r>
              <a:rPr lang="en-US" sz="3899" u="none" strike="noStrike" dirty="0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Overcame Arabic morphological barriers (prefixes/suffixes)</a:t>
            </a:r>
          </a:p>
          <a:p>
            <a:pPr marL="0" lvl="0" indent="0" algn="l">
              <a:lnSpc>
                <a:spcPts val="4523"/>
              </a:lnSpc>
            </a:pPr>
            <a:r>
              <a:rPr lang="en-US" sz="3899" u="none" strike="noStrike" dirty="0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via n-gram root extraction and strict normalization.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3684" y="7188213"/>
            <a:ext cx="14301300" cy="183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1"/>
              </a:lnSpc>
              <a:spcBef>
                <a:spcPct val="0"/>
              </a:spcBef>
            </a:pPr>
            <a:r>
              <a:rPr lang="en-US" sz="4699" b="1" u="none" strike="noStrike">
                <a:solidFill>
                  <a:srgbClr val="0013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Utility</a:t>
            </a:r>
          </a:p>
          <a:p>
            <a:pPr marL="0" lvl="0" indent="0" algn="l">
              <a:lnSpc>
                <a:spcPts val="4523"/>
              </a:lnSpc>
              <a:spcBef>
                <a:spcPct val="0"/>
              </a:spcBef>
            </a:pPr>
            <a:r>
              <a:rPr lang="en-US" sz="3899" u="none" strike="noStrike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Provides defense analysts with an automated, quantitative</a:t>
            </a:r>
          </a:p>
          <a:p>
            <a:pPr marL="0" lvl="0" indent="0" algn="l">
              <a:lnSpc>
                <a:spcPts val="4523"/>
              </a:lnSpc>
              <a:spcBef>
                <a:spcPct val="0"/>
              </a:spcBef>
            </a:pPr>
            <a:r>
              <a:rPr lang="en-US" sz="3899" u="none" strike="noStrike">
                <a:solidFill>
                  <a:srgbClr val="001365"/>
                </a:solidFill>
                <a:latin typeface="Open Sauce"/>
                <a:ea typeface="Open Sauce"/>
                <a:cs typeface="Open Sauce"/>
                <a:sym typeface="Open Sauce"/>
              </a:rPr>
              <a:t>method to monitor the 'Social State' of a region in real-time.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1119</Words>
  <Application>Microsoft Office PowerPoint</Application>
  <PresentationFormat>Custom</PresentationFormat>
  <Paragraphs>168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Open Sauce Bold</vt:lpstr>
      <vt:lpstr>Dubai Light</vt:lpstr>
      <vt:lpstr>Tex Gyre Bonum</vt:lpstr>
      <vt:lpstr>Sakkal Majalla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Recognition Changes in Social State Resting upon Arabic Media</dc:title>
  <cp:lastModifiedBy>שאדי אל קיש</cp:lastModifiedBy>
  <cp:revision>10</cp:revision>
  <dcterms:created xsi:type="dcterms:W3CDTF">2006-08-16T00:00:00Z</dcterms:created>
  <dcterms:modified xsi:type="dcterms:W3CDTF">2026-01-26T13:17:02Z</dcterms:modified>
  <dc:identifier>DAG-8-pdPMQ</dc:identifier>
</cp:coreProperties>
</file>